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4" r:id="rId5"/>
    <p:sldId id="260" r:id="rId6"/>
    <p:sldId id="272" r:id="rId7"/>
    <p:sldId id="268" r:id="rId8"/>
    <p:sldId id="269" r:id="rId9"/>
    <p:sldId id="270" r:id="rId10"/>
    <p:sldId id="275" r:id="rId11"/>
    <p:sldId id="278" r:id="rId12"/>
    <p:sldId id="265" r:id="rId13"/>
    <p:sldId id="283" r:id="rId14"/>
    <p:sldId id="259" r:id="rId15"/>
    <p:sldId id="284" r:id="rId16"/>
    <p:sldId id="274" r:id="rId17"/>
    <p:sldId id="280" r:id="rId18"/>
    <p:sldId id="281" r:id="rId19"/>
    <p:sldId id="285" r:id="rId20"/>
    <p:sldId id="286" r:id="rId21"/>
    <p:sldId id="273" r:id="rId22"/>
    <p:sldId id="262" r:id="rId23"/>
    <p:sldId id="267" r:id="rId24"/>
    <p:sldId id="271" r:id="rId25"/>
  </p:sldIdLst>
  <p:sldSz cx="12420600" cy="7380288"/>
  <p:notesSz cx="6858000" cy="9144000"/>
  <p:defaultTextStyle>
    <a:defPPr>
      <a:defRPr lang="en-US"/>
    </a:defPPr>
    <a:lvl1pPr marL="0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1pPr>
    <a:lvl2pPr marL="475214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2pPr>
    <a:lvl3pPr marL="950427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3pPr>
    <a:lvl4pPr marL="1425641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4pPr>
    <a:lvl5pPr marL="1900855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5pPr>
    <a:lvl6pPr marL="2376068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6pPr>
    <a:lvl7pPr marL="2851282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7pPr>
    <a:lvl8pPr marL="3326496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8pPr>
    <a:lvl9pPr marL="3801709" algn="l" defTabSz="475214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5" userDrawn="1">
          <p15:clr>
            <a:srgbClr val="A4A3A4"/>
          </p15:clr>
        </p15:guide>
        <p15:guide id="2" pos="3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48" y="360"/>
      </p:cViewPr>
      <p:guideLst>
        <p:guide orient="horz" pos="2325"/>
        <p:guide pos="3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5CDEB-56E7-4735-A679-9C551ABB5B2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1850" y="1143000"/>
            <a:ext cx="5194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F2DB4-3684-43F7-92A9-A0D50D0253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066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1pPr>
    <a:lvl2pPr marL="475214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2pPr>
    <a:lvl3pPr marL="950427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3pPr>
    <a:lvl4pPr marL="1425641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4pPr>
    <a:lvl5pPr marL="1900855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5pPr>
    <a:lvl6pPr marL="2376068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6pPr>
    <a:lvl7pPr marL="2851282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7pPr>
    <a:lvl8pPr marL="3326496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8pPr>
    <a:lvl9pPr marL="3801709" algn="l" defTabSz="950427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31850" y="1143000"/>
            <a:ext cx="51943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F2DB4-3684-43F7-92A9-A0D50D0253B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728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31850" y="1143000"/>
            <a:ext cx="51943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F2DB4-3684-43F7-92A9-A0D50D0253B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82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545" y="2292675"/>
            <a:ext cx="10557510" cy="158197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3090" y="4182163"/>
            <a:ext cx="8694420" cy="18860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65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315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97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63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28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94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60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26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DFC-9E45-4BA0-BC30-0A0C9B3E0062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D3CAF-66D0-4B38-B219-3A6192FB313D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142" y="4742520"/>
            <a:ext cx="10557510" cy="1465807"/>
          </a:xfrm>
        </p:spPr>
        <p:txBody>
          <a:bodyPr anchor="t"/>
          <a:lstStyle>
            <a:lvl1pPr algn="l">
              <a:defRPr sz="4075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1142" y="3128082"/>
            <a:ext cx="10557510" cy="1614437"/>
          </a:xfrm>
        </p:spPr>
        <p:txBody>
          <a:bodyPr anchor="b"/>
          <a:lstStyle>
            <a:lvl1pPr marL="0" indent="0">
              <a:buNone/>
              <a:defRPr sz="2038">
                <a:solidFill>
                  <a:schemeClr val="tx1">
                    <a:tint val="75000"/>
                  </a:schemeClr>
                </a:solidFill>
              </a:defRPr>
            </a:lvl1pPr>
            <a:lvl2pPr marL="465795" indent="0">
              <a:buNone/>
              <a:defRPr sz="1834">
                <a:solidFill>
                  <a:schemeClr val="tx1">
                    <a:tint val="75000"/>
                  </a:schemeClr>
                </a:solidFill>
              </a:defRPr>
            </a:lvl2pPr>
            <a:lvl3pPr marL="931591" indent="0">
              <a:buNone/>
              <a:defRPr sz="1630">
                <a:solidFill>
                  <a:schemeClr val="tx1">
                    <a:tint val="75000"/>
                  </a:schemeClr>
                </a:solidFill>
              </a:defRPr>
            </a:lvl3pPr>
            <a:lvl4pPr marL="1397386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4pPr>
            <a:lvl5pPr marL="1863181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5pPr>
            <a:lvl6pPr marL="2328977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6pPr>
            <a:lvl7pPr marL="2794772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7pPr>
            <a:lvl8pPr marL="3260568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8pPr>
            <a:lvl9pPr marL="3726363" indent="0">
              <a:buNone/>
              <a:defRPr sz="1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5ADA3-C3B4-4393-93B8-207944E16BF6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1030" y="1722069"/>
            <a:ext cx="5485765" cy="4870649"/>
          </a:xfrm>
        </p:spPr>
        <p:txBody>
          <a:bodyPr/>
          <a:lstStyle>
            <a:lvl1pPr>
              <a:defRPr sz="2853"/>
            </a:lvl1pPr>
            <a:lvl2pPr>
              <a:defRPr sz="2445"/>
            </a:lvl2pPr>
            <a:lvl3pPr>
              <a:defRPr sz="2038"/>
            </a:lvl3pPr>
            <a:lvl4pPr>
              <a:defRPr sz="1834"/>
            </a:lvl4pPr>
            <a:lvl5pPr>
              <a:defRPr sz="1834"/>
            </a:lvl5pPr>
            <a:lvl6pPr>
              <a:defRPr sz="1834"/>
            </a:lvl6pPr>
            <a:lvl7pPr>
              <a:defRPr sz="1834"/>
            </a:lvl7pPr>
            <a:lvl8pPr>
              <a:defRPr sz="1834"/>
            </a:lvl8pPr>
            <a:lvl9pPr>
              <a:defRPr sz="1834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3805" y="1722069"/>
            <a:ext cx="5485765" cy="4870649"/>
          </a:xfrm>
        </p:spPr>
        <p:txBody>
          <a:bodyPr/>
          <a:lstStyle>
            <a:lvl1pPr>
              <a:defRPr sz="2853"/>
            </a:lvl1pPr>
            <a:lvl2pPr>
              <a:defRPr sz="2445"/>
            </a:lvl2pPr>
            <a:lvl3pPr>
              <a:defRPr sz="2038"/>
            </a:lvl3pPr>
            <a:lvl4pPr>
              <a:defRPr sz="1834"/>
            </a:lvl4pPr>
            <a:lvl5pPr>
              <a:defRPr sz="1834"/>
            </a:lvl5pPr>
            <a:lvl6pPr>
              <a:defRPr sz="1834"/>
            </a:lvl6pPr>
            <a:lvl7pPr>
              <a:defRPr sz="1834"/>
            </a:lvl7pPr>
            <a:lvl8pPr>
              <a:defRPr sz="1834"/>
            </a:lvl8pPr>
            <a:lvl9pPr>
              <a:defRPr sz="1834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5540-066D-42BD-9EF6-F9EECA1856D8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030" y="1652023"/>
            <a:ext cx="5487922" cy="688485"/>
          </a:xfrm>
        </p:spPr>
        <p:txBody>
          <a:bodyPr anchor="b"/>
          <a:lstStyle>
            <a:lvl1pPr marL="0" indent="0">
              <a:buNone/>
              <a:defRPr sz="2445" b="1"/>
            </a:lvl1pPr>
            <a:lvl2pPr marL="465795" indent="0">
              <a:buNone/>
              <a:defRPr sz="2038" b="1"/>
            </a:lvl2pPr>
            <a:lvl3pPr marL="931591" indent="0">
              <a:buNone/>
              <a:defRPr sz="1834" b="1"/>
            </a:lvl3pPr>
            <a:lvl4pPr marL="1397386" indent="0">
              <a:buNone/>
              <a:defRPr sz="1630" b="1"/>
            </a:lvl4pPr>
            <a:lvl5pPr marL="1863181" indent="0">
              <a:buNone/>
              <a:defRPr sz="1630" b="1"/>
            </a:lvl5pPr>
            <a:lvl6pPr marL="2328977" indent="0">
              <a:buNone/>
              <a:defRPr sz="1630" b="1"/>
            </a:lvl6pPr>
            <a:lvl7pPr marL="2794772" indent="0">
              <a:buNone/>
              <a:defRPr sz="1630" b="1"/>
            </a:lvl7pPr>
            <a:lvl8pPr marL="3260568" indent="0">
              <a:buNone/>
              <a:defRPr sz="1630" b="1"/>
            </a:lvl8pPr>
            <a:lvl9pPr marL="3726363" indent="0">
              <a:buNone/>
              <a:defRPr sz="163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30" y="2340508"/>
            <a:ext cx="5487922" cy="4252208"/>
          </a:xfrm>
        </p:spPr>
        <p:txBody>
          <a:bodyPr/>
          <a:lstStyle>
            <a:lvl1pPr>
              <a:defRPr sz="2445"/>
            </a:lvl1pPr>
            <a:lvl2pPr>
              <a:defRPr sz="2038"/>
            </a:lvl2pPr>
            <a:lvl3pPr>
              <a:defRPr sz="1834"/>
            </a:lvl3pPr>
            <a:lvl4pPr>
              <a:defRPr sz="1630"/>
            </a:lvl4pPr>
            <a:lvl5pPr>
              <a:defRPr sz="1630"/>
            </a:lvl5pPr>
            <a:lvl6pPr>
              <a:defRPr sz="1630"/>
            </a:lvl6pPr>
            <a:lvl7pPr>
              <a:defRPr sz="1630"/>
            </a:lvl7pPr>
            <a:lvl8pPr>
              <a:defRPr sz="1630"/>
            </a:lvl8pPr>
            <a:lvl9pPr>
              <a:defRPr sz="163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9494" y="1652023"/>
            <a:ext cx="5490077" cy="688485"/>
          </a:xfrm>
        </p:spPr>
        <p:txBody>
          <a:bodyPr anchor="b"/>
          <a:lstStyle>
            <a:lvl1pPr marL="0" indent="0">
              <a:buNone/>
              <a:defRPr sz="2445" b="1"/>
            </a:lvl1pPr>
            <a:lvl2pPr marL="465795" indent="0">
              <a:buNone/>
              <a:defRPr sz="2038" b="1"/>
            </a:lvl2pPr>
            <a:lvl3pPr marL="931591" indent="0">
              <a:buNone/>
              <a:defRPr sz="1834" b="1"/>
            </a:lvl3pPr>
            <a:lvl4pPr marL="1397386" indent="0">
              <a:buNone/>
              <a:defRPr sz="1630" b="1"/>
            </a:lvl4pPr>
            <a:lvl5pPr marL="1863181" indent="0">
              <a:buNone/>
              <a:defRPr sz="1630" b="1"/>
            </a:lvl5pPr>
            <a:lvl6pPr marL="2328977" indent="0">
              <a:buNone/>
              <a:defRPr sz="1630" b="1"/>
            </a:lvl6pPr>
            <a:lvl7pPr marL="2794772" indent="0">
              <a:buNone/>
              <a:defRPr sz="1630" b="1"/>
            </a:lvl7pPr>
            <a:lvl8pPr marL="3260568" indent="0">
              <a:buNone/>
              <a:defRPr sz="1630" b="1"/>
            </a:lvl8pPr>
            <a:lvl9pPr marL="3726363" indent="0">
              <a:buNone/>
              <a:defRPr sz="163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9494" y="2340508"/>
            <a:ext cx="5490077" cy="4252208"/>
          </a:xfrm>
        </p:spPr>
        <p:txBody>
          <a:bodyPr/>
          <a:lstStyle>
            <a:lvl1pPr>
              <a:defRPr sz="2445"/>
            </a:lvl1pPr>
            <a:lvl2pPr>
              <a:defRPr sz="2038"/>
            </a:lvl2pPr>
            <a:lvl3pPr>
              <a:defRPr sz="1834"/>
            </a:lvl3pPr>
            <a:lvl4pPr>
              <a:defRPr sz="1630"/>
            </a:lvl4pPr>
            <a:lvl5pPr>
              <a:defRPr sz="1630"/>
            </a:lvl5pPr>
            <a:lvl6pPr>
              <a:defRPr sz="1630"/>
            </a:lvl6pPr>
            <a:lvl7pPr>
              <a:defRPr sz="1630"/>
            </a:lvl7pPr>
            <a:lvl8pPr>
              <a:defRPr sz="1630"/>
            </a:lvl8pPr>
            <a:lvl9pPr>
              <a:defRPr sz="163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4776F-76E5-483F-A736-9FDA4B5B4611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067-5D53-47A8-9FB4-ED0EF01C4281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CB8-5EDB-4676-9C93-E02B07C24875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31" y="293845"/>
            <a:ext cx="4086292" cy="1250549"/>
          </a:xfrm>
        </p:spPr>
        <p:txBody>
          <a:bodyPr anchor="b"/>
          <a:lstStyle>
            <a:lvl1pPr algn="l">
              <a:defRPr sz="2038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6110" y="293847"/>
            <a:ext cx="6943461" cy="6298871"/>
          </a:xfrm>
        </p:spPr>
        <p:txBody>
          <a:bodyPr/>
          <a:lstStyle>
            <a:lvl1pPr>
              <a:defRPr sz="3260"/>
            </a:lvl1pPr>
            <a:lvl2pPr>
              <a:defRPr sz="2853"/>
            </a:lvl2pPr>
            <a:lvl3pPr>
              <a:defRPr sz="2445"/>
            </a:lvl3pPr>
            <a:lvl4pPr>
              <a:defRPr sz="2038"/>
            </a:lvl4pPr>
            <a:lvl5pPr>
              <a:defRPr sz="2038"/>
            </a:lvl5pPr>
            <a:lvl6pPr>
              <a:defRPr sz="2038"/>
            </a:lvl6pPr>
            <a:lvl7pPr>
              <a:defRPr sz="2038"/>
            </a:lvl7pPr>
            <a:lvl8pPr>
              <a:defRPr sz="2038"/>
            </a:lvl8pPr>
            <a:lvl9pPr>
              <a:defRPr sz="203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1031" y="1544395"/>
            <a:ext cx="4086292" cy="5048323"/>
          </a:xfrm>
        </p:spPr>
        <p:txBody>
          <a:bodyPr/>
          <a:lstStyle>
            <a:lvl1pPr marL="0" indent="0">
              <a:buNone/>
              <a:defRPr sz="1426"/>
            </a:lvl1pPr>
            <a:lvl2pPr marL="465795" indent="0">
              <a:buNone/>
              <a:defRPr sz="1223"/>
            </a:lvl2pPr>
            <a:lvl3pPr marL="931591" indent="0">
              <a:buNone/>
              <a:defRPr sz="1019"/>
            </a:lvl3pPr>
            <a:lvl4pPr marL="1397386" indent="0">
              <a:buNone/>
              <a:defRPr sz="917"/>
            </a:lvl4pPr>
            <a:lvl5pPr marL="1863181" indent="0">
              <a:buNone/>
              <a:defRPr sz="917"/>
            </a:lvl5pPr>
            <a:lvl6pPr marL="2328977" indent="0">
              <a:buNone/>
              <a:defRPr sz="917"/>
            </a:lvl6pPr>
            <a:lvl7pPr marL="2794772" indent="0">
              <a:buNone/>
              <a:defRPr sz="917"/>
            </a:lvl7pPr>
            <a:lvl8pPr marL="3260568" indent="0">
              <a:buNone/>
              <a:defRPr sz="917"/>
            </a:lvl8pPr>
            <a:lvl9pPr marL="3726363" indent="0">
              <a:buNone/>
              <a:defRPr sz="91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07F20-041F-43C9-8C61-3D690E92AD53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4524" y="5166202"/>
            <a:ext cx="7452360" cy="609899"/>
          </a:xfrm>
        </p:spPr>
        <p:txBody>
          <a:bodyPr anchor="b"/>
          <a:lstStyle>
            <a:lvl1pPr algn="l">
              <a:defRPr sz="2038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4524" y="659442"/>
            <a:ext cx="7452360" cy="4428173"/>
          </a:xfrm>
        </p:spPr>
        <p:txBody>
          <a:bodyPr/>
          <a:lstStyle>
            <a:lvl1pPr marL="0" indent="0">
              <a:buNone/>
              <a:defRPr sz="3260"/>
            </a:lvl1pPr>
            <a:lvl2pPr marL="465795" indent="0">
              <a:buNone/>
              <a:defRPr sz="2853"/>
            </a:lvl2pPr>
            <a:lvl3pPr marL="931591" indent="0">
              <a:buNone/>
              <a:defRPr sz="2445"/>
            </a:lvl3pPr>
            <a:lvl4pPr marL="1397386" indent="0">
              <a:buNone/>
              <a:defRPr sz="2038"/>
            </a:lvl4pPr>
            <a:lvl5pPr marL="1863181" indent="0">
              <a:buNone/>
              <a:defRPr sz="2038"/>
            </a:lvl5pPr>
            <a:lvl6pPr marL="2328977" indent="0">
              <a:buNone/>
              <a:defRPr sz="2038"/>
            </a:lvl6pPr>
            <a:lvl7pPr marL="2794772" indent="0">
              <a:buNone/>
              <a:defRPr sz="2038"/>
            </a:lvl7pPr>
            <a:lvl8pPr marL="3260568" indent="0">
              <a:buNone/>
              <a:defRPr sz="2038"/>
            </a:lvl8pPr>
            <a:lvl9pPr marL="3726363" indent="0">
              <a:buNone/>
              <a:defRPr sz="203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4524" y="5776101"/>
            <a:ext cx="7452360" cy="866158"/>
          </a:xfrm>
        </p:spPr>
        <p:txBody>
          <a:bodyPr/>
          <a:lstStyle>
            <a:lvl1pPr marL="0" indent="0">
              <a:buNone/>
              <a:defRPr sz="1426"/>
            </a:lvl1pPr>
            <a:lvl2pPr marL="465795" indent="0">
              <a:buNone/>
              <a:defRPr sz="1223"/>
            </a:lvl2pPr>
            <a:lvl3pPr marL="931591" indent="0">
              <a:buNone/>
              <a:defRPr sz="1019"/>
            </a:lvl3pPr>
            <a:lvl4pPr marL="1397386" indent="0">
              <a:buNone/>
              <a:defRPr sz="917"/>
            </a:lvl4pPr>
            <a:lvl5pPr marL="1863181" indent="0">
              <a:buNone/>
              <a:defRPr sz="917"/>
            </a:lvl5pPr>
            <a:lvl6pPr marL="2328977" indent="0">
              <a:buNone/>
              <a:defRPr sz="917"/>
            </a:lvl6pPr>
            <a:lvl7pPr marL="2794772" indent="0">
              <a:buNone/>
              <a:defRPr sz="917"/>
            </a:lvl7pPr>
            <a:lvl8pPr marL="3260568" indent="0">
              <a:buNone/>
              <a:defRPr sz="917"/>
            </a:lvl8pPr>
            <a:lvl9pPr marL="3726363" indent="0">
              <a:buNone/>
              <a:defRPr sz="91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EA729-5D3F-4131-9B7F-7B58AAC17214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48D7-FC86-4175-82F5-5405F2E4B0ED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04935" y="295556"/>
            <a:ext cx="2794635" cy="6297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1030" y="295556"/>
            <a:ext cx="8176895" cy="62971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3F56-CDC8-4475-B617-A4705BCA565B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1030" y="295554"/>
            <a:ext cx="11178540" cy="1230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030" y="1722069"/>
            <a:ext cx="11178540" cy="4870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1030" y="6840435"/>
            <a:ext cx="2898140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24497-CA88-40C1-B734-9120B022A7CA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3705" y="6840435"/>
            <a:ext cx="3933190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01430" y="6840435"/>
            <a:ext cx="2898140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65795" rtl="0" eaLnBrk="1" latinLnBrk="0" hangingPunct="1">
        <a:spcBef>
          <a:spcPct val="0"/>
        </a:spcBef>
        <a:buNone/>
        <a:defRPr sz="44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9347" indent="-349347" algn="l" defTabSz="465795" rtl="0" eaLnBrk="1" latinLnBrk="0" hangingPunct="1">
        <a:spcBef>
          <a:spcPct val="20000"/>
        </a:spcBef>
        <a:buFont typeface="Arial"/>
        <a:buChar char="•"/>
        <a:defRPr sz="3260" kern="1200">
          <a:solidFill>
            <a:schemeClr val="tx1"/>
          </a:solidFill>
          <a:latin typeface="+mn-lt"/>
          <a:ea typeface="+mn-ea"/>
          <a:cs typeface="+mn-cs"/>
        </a:defRPr>
      </a:lvl1pPr>
      <a:lvl2pPr marL="756917" indent="-291122" algn="l" defTabSz="465795" rtl="0" eaLnBrk="1" latinLnBrk="0" hangingPunct="1">
        <a:spcBef>
          <a:spcPct val="20000"/>
        </a:spcBef>
        <a:buFont typeface="Arial"/>
        <a:buChar char="–"/>
        <a:defRPr sz="2853" kern="1200">
          <a:solidFill>
            <a:schemeClr val="tx1"/>
          </a:solidFill>
          <a:latin typeface="+mn-lt"/>
          <a:ea typeface="+mn-ea"/>
          <a:cs typeface="+mn-cs"/>
        </a:defRPr>
      </a:lvl2pPr>
      <a:lvl3pPr marL="1164488" indent="-232898" algn="l" defTabSz="465795" rtl="0" eaLnBrk="1" latinLnBrk="0" hangingPunct="1">
        <a:spcBef>
          <a:spcPct val="20000"/>
        </a:spcBef>
        <a:buFont typeface="Arial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3pPr>
      <a:lvl4pPr marL="1630284" indent="-232898" algn="l" defTabSz="465795" rtl="0" eaLnBrk="1" latinLnBrk="0" hangingPunct="1">
        <a:spcBef>
          <a:spcPct val="20000"/>
        </a:spcBef>
        <a:buFont typeface="Arial"/>
        <a:buChar char="–"/>
        <a:defRPr sz="2038" kern="1200">
          <a:solidFill>
            <a:schemeClr val="tx1"/>
          </a:solidFill>
          <a:latin typeface="+mn-lt"/>
          <a:ea typeface="+mn-ea"/>
          <a:cs typeface="+mn-cs"/>
        </a:defRPr>
      </a:lvl4pPr>
      <a:lvl5pPr marL="2096079" indent="-232898" algn="l" defTabSz="465795" rtl="0" eaLnBrk="1" latinLnBrk="0" hangingPunct="1">
        <a:spcBef>
          <a:spcPct val="20000"/>
        </a:spcBef>
        <a:buFont typeface="Arial"/>
        <a:buChar char="»"/>
        <a:defRPr sz="2038" kern="1200">
          <a:solidFill>
            <a:schemeClr val="tx1"/>
          </a:solidFill>
          <a:latin typeface="+mn-lt"/>
          <a:ea typeface="+mn-ea"/>
          <a:cs typeface="+mn-cs"/>
        </a:defRPr>
      </a:lvl5pPr>
      <a:lvl6pPr marL="2561874" indent="-232898" algn="l" defTabSz="465795" rtl="0" eaLnBrk="1" latinLnBrk="0" hangingPunct="1">
        <a:spcBef>
          <a:spcPct val="20000"/>
        </a:spcBef>
        <a:buFont typeface="Arial"/>
        <a:buChar char="•"/>
        <a:defRPr sz="2038" kern="1200">
          <a:solidFill>
            <a:schemeClr val="tx1"/>
          </a:solidFill>
          <a:latin typeface="+mn-lt"/>
          <a:ea typeface="+mn-ea"/>
          <a:cs typeface="+mn-cs"/>
        </a:defRPr>
      </a:lvl6pPr>
      <a:lvl7pPr marL="3027670" indent="-232898" algn="l" defTabSz="465795" rtl="0" eaLnBrk="1" latinLnBrk="0" hangingPunct="1">
        <a:spcBef>
          <a:spcPct val="20000"/>
        </a:spcBef>
        <a:buFont typeface="Arial"/>
        <a:buChar char="•"/>
        <a:defRPr sz="2038" kern="1200">
          <a:solidFill>
            <a:schemeClr val="tx1"/>
          </a:solidFill>
          <a:latin typeface="+mn-lt"/>
          <a:ea typeface="+mn-ea"/>
          <a:cs typeface="+mn-cs"/>
        </a:defRPr>
      </a:lvl7pPr>
      <a:lvl8pPr marL="3493465" indent="-232898" algn="l" defTabSz="465795" rtl="0" eaLnBrk="1" latinLnBrk="0" hangingPunct="1">
        <a:spcBef>
          <a:spcPct val="20000"/>
        </a:spcBef>
        <a:buFont typeface="Arial"/>
        <a:buChar char="•"/>
        <a:defRPr sz="2038" kern="1200">
          <a:solidFill>
            <a:schemeClr val="tx1"/>
          </a:solidFill>
          <a:latin typeface="+mn-lt"/>
          <a:ea typeface="+mn-ea"/>
          <a:cs typeface="+mn-cs"/>
        </a:defRPr>
      </a:lvl8pPr>
      <a:lvl9pPr marL="3959261" indent="-232898" algn="l" defTabSz="465795" rtl="0" eaLnBrk="1" latinLnBrk="0" hangingPunct="1">
        <a:spcBef>
          <a:spcPct val="20000"/>
        </a:spcBef>
        <a:buFont typeface="Arial"/>
        <a:buChar char="•"/>
        <a:defRPr sz="20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1pPr>
      <a:lvl2pPr marL="465795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2pPr>
      <a:lvl3pPr marL="931591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3pPr>
      <a:lvl4pPr marL="1397386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4pPr>
      <a:lvl5pPr marL="1863181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5pPr>
      <a:lvl6pPr marL="2328977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6pPr>
      <a:lvl7pPr marL="2794772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7pPr>
      <a:lvl8pPr marL="3260568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8pPr>
      <a:lvl9pPr marL="3726363" algn="l" defTabSz="465795" rtl="0" eaLnBrk="1" latinLnBrk="0" hangingPunct="1">
        <a:defRPr sz="18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diop\OneDrive%20-%20London%20School%20of%20Hygiene%20and%20Tropical%20Medicine\PhD\Analysis\objective1\benchmarking_methods\simulation\simulations\figure2_baseline_ibd.pdf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545" y="1232285"/>
            <a:ext cx="10557510" cy="149758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Benchmarking Transmission Inference Methods Using Simulated Genomic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3090" y="3690938"/>
            <a:ext cx="9448038" cy="1255966"/>
          </a:xfrm>
        </p:spPr>
        <p:txBody>
          <a:bodyPr/>
          <a:lstStyle/>
          <a:p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A </a:t>
            </a:r>
            <a:r>
              <a:rPr lang="en-GB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Plasmodium falciparum </a:t>
            </a:r>
            <a:r>
              <a:rPr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simulation </a:t>
            </a:r>
            <a:r>
              <a:rPr dirty="0">
                <a:solidFill>
                  <a:schemeClr val="tx2">
                    <a:lumMod val="40000"/>
                    <a:lumOff val="60000"/>
                  </a:schemeClr>
                </a:solidFill>
              </a:rPr>
              <a:t>and evaluation framework for </a:t>
            </a:r>
            <a:r>
              <a:rPr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IBS</a:t>
            </a:r>
            <a:r>
              <a:rPr lang="en-GB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 – </a:t>
            </a:r>
            <a:r>
              <a:rPr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IBD</a:t>
            </a:r>
            <a:r>
              <a:rPr lang="en-GB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 – </a:t>
            </a:r>
            <a:r>
              <a:rPr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phylogenetic</a:t>
            </a:r>
            <a:r>
              <a:rPr lang="en-GB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 distances</a:t>
            </a:r>
            <a:endParaRPr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08723" y="5904074"/>
            <a:ext cx="4380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/>
              <a:t>Mouhamadou Fadel DIOP</a:t>
            </a:r>
            <a:endParaRPr lang="en-GB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4907" y="47166"/>
            <a:ext cx="7050786" cy="739218"/>
          </a:xfrm>
        </p:spPr>
        <p:txBody>
          <a:bodyPr>
            <a:normAutofit fontScale="90000"/>
          </a:bodyPr>
          <a:lstStyle/>
          <a:p>
            <a:r>
              <a:rPr dirty="0"/>
              <a:t>Rationale for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674" y="980224"/>
            <a:ext cx="11415251" cy="3407715"/>
          </a:xfrm>
        </p:spPr>
        <p:txBody>
          <a:bodyPr>
            <a:noAutofit/>
          </a:bodyPr>
          <a:lstStyle/>
          <a:p>
            <a:r>
              <a:rPr lang="en-GB" sz="2400" dirty="0"/>
              <a:t>E</a:t>
            </a:r>
            <a:r>
              <a:rPr sz="2400" dirty="0" smtClean="0"/>
              <a:t>valuate </a:t>
            </a:r>
            <a:r>
              <a:rPr sz="2400" dirty="0"/>
              <a:t>the reliability of transmission inference methods </a:t>
            </a:r>
            <a:r>
              <a:rPr sz="2400" dirty="0" smtClean="0"/>
              <a:t>under </a:t>
            </a:r>
            <a:r>
              <a:rPr sz="2400" dirty="0"/>
              <a:t>varying biological and sampling conditions. </a:t>
            </a:r>
            <a:endParaRPr lang="en-GB" sz="2400" dirty="0" smtClean="0"/>
          </a:p>
          <a:p>
            <a:endParaRPr lang="en-GB" sz="2400" dirty="0" smtClean="0"/>
          </a:p>
          <a:p>
            <a:r>
              <a:rPr lang="en-GB" sz="2400" dirty="0" smtClean="0"/>
              <a:t>These methods include:</a:t>
            </a:r>
          </a:p>
          <a:p>
            <a:pPr lvl="2"/>
            <a:r>
              <a:rPr lang="en-GB" sz="2400" dirty="0" smtClean="0">
                <a:solidFill>
                  <a:srgbClr val="00B0F0"/>
                </a:solidFill>
              </a:rPr>
              <a:t>Identity-by-descent (IBD)</a:t>
            </a:r>
          </a:p>
          <a:p>
            <a:pPr lvl="2"/>
            <a:r>
              <a:rPr lang="en-GB" sz="2400" dirty="0" smtClean="0">
                <a:solidFill>
                  <a:srgbClr val="00B0F0"/>
                </a:solidFill>
              </a:rPr>
              <a:t>Identity-by-state </a:t>
            </a:r>
            <a:r>
              <a:rPr lang="en-GB" sz="2400" dirty="0">
                <a:solidFill>
                  <a:srgbClr val="00B0F0"/>
                </a:solidFill>
              </a:rPr>
              <a:t>(</a:t>
            </a:r>
            <a:r>
              <a:rPr lang="en-GB" sz="2400" dirty="0" smtClean="0">
                <a:solidFill>
                  <a:srgbClr val="00B0F0"/>
                </a:solidFill>
              </a:rPr>
              <a:t>IBS) </a:t>
            </a:r>
          </a:p>
          <a:p>
            <a:pPr lvl="2"/>
            <a:r>
              <a:rPr lang="en-GB" sz="2400" dirty="0" smtClean="0">
                <a:solidFill>
                  <a:srgbClr val="00B0F0"/>
                </a:solidFill>
              </a:rPr>
              <a:t>Phylogenetic Patristic distance</a:t>
            </a:r>
            <a:r>
              <a:rPr lang="en-GB" sz="2400" dirty="0" smtClean="0"/>
              <a:t>	</a:t>
            </a:r>
            <a:endParaRPr lang="en-GB" sz="2400" dirty="0" smtClean="0"/>
          </a:p>
          <a:p>
            <a:endParaRPr lang="en-GB" sz="2400" dirty="0"/>
          </a:p>
          <a:p>
            <a:r>
              <a:rPr lang="en-GB" sz="2400" dirty="0" smtClean="0"/>
              <a:t>Objective:</a:t>
            </a:r>
            <a:r>
              <a:rPr sz="2400" dirty="0" smtClean="0"/>
              <a:t> </a:t>
            </a:r>
            <a:endParaRPr lang="en-GB" sz="2400" dirty="0" smtClean="0"/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sz="2400" dirty="0" smtClean="0">
                <a:solidFill>
                  <a:srgbClr val="00B050"/>
                </a:solidFill>
              </a:rPr>
              <a:t>Identify “who infected whom”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sz="2400" dirty="0" smtClean="0">
                <a:solidFill>
                  <a:srgbClr val="00B050"/>
                </a:solidFill>
              </a:rPr>
              <a:t>D</a:t>
            </a:r>
            <a:r>
              <a:rPr sz="2400" dirty="0" smtClean="0">
                <a:solidFill>
                  <a:srgbClr val="00B050"/>
                </a:solidFill>
              </a:rPr>
              <a:t>etermine </a:t>
            </a:r>
            <a:r>
              <a:rPr sz="2400" dirty="0">
                <a:solidFill>
                  <a:srgbClr val="00B050"/>
                </a:solidFill>
              </a:rPr>
              <a:t>under which conditions these methods can accurately recover </a:t>
            </a:r>
            <a:r>
              <a:rPr lang="en-GB" sz="2400" dirty="0" smtClean="0">
                <a:solidFill>
                  <a:srgbClr val="00B050"/>
                </a:solidFill>
              </a:rPr>
              <a:t>malaria </a:t>
            </a:r>
            <a:r>
              <a:rPr sz="2400" dirty="0" smtClean="0">
                <a:solidFill>
                  <a:srgbClr val="00B050"/>
                </a:solidFill>
              </a:rPr>
              <a:t>transmission </a:t>
            </a:r>
            <a:r>
              <a:rPr sz="2400" dirty="0">
                <a:solidFill>
                  <a:srgbClr val="00B050"/>
                </a:solidFill>
              </a:rPr>
              <a:t>links from genomic data</a:t>
            </a:r>
            <a:r>
              <a:rPr sz="2400" dirty="0" smtClean="0">
                <a:solidFill>
                  <a:srgbClr val="00B050"/>
                </a:solidFill>
              </a:rPr>
              <a:t>.</a:t>
            </a:r>
            <a:endParaRPr sz="2400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t>3</a:t>
            </a:fld>
            <a:endParaRPr lang="en-US" sz="203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30" y="76098"/>
            <a:ext cx="11178540" cy="1230048"/>
          </a:xfrm>
        </p:spPr>
        <p:txBody>
          <a:bodyPr/>
          <a:lstStyle/>
          <a:p>
            <a:r>
              <a:rPr dirty="0"/>
              <a:t>Simulation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030" y="1255613"/>
            <a:ext cx="11178540" cy="487064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 smtClean="0"/>
              <a:t>S</a:t>
            </a:r>
            <a:r>
              <a:rPr sz="2400" dirty="0" smtClean="0"/>
              <a:t>imulate </a:t>
            </a:r>
            <a:r>
              <a:rPr lang="en-GB" sz="2400" dirty="0" smtClean="0"/>
              <a:t>scenarios for </a:t>
            </a:r>
            <a:r>
              <a:rPr sz="2400" dirty="0" smtClean="0"/>
              <a:t>evolving </a:t>
            </a:r>
            <a:r>
              <a:rPr lang="en-GB" sz="2400" dirty="0" smtClean="0"/>
              <a:t>P.f </a:t>
            </a:r>
            <a:r>
              <a:rPr sz="2400" dirty="0" smtClean="0"/>
              <a:t>populations </a:t>
            </a:r>
            <a:r>
              <a:rPr sz="2400" dirty="0"/>
              <a:t>with different parameters</a:t>
            </a:r>
            <a:r>
              <a:rPr sz="2400" dirty="0" smtClean="0"/>
              <a:t>:</a:t>
            </a:r>
            <a:endParaRPr lang="en-GB" sz="2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Forward-time, individual-based simulations of Plasmodium</a:t>
            </a:r>
            <a:r>
              <a:rPr lang="en-US" sz="2400" i="1" dirty="0"/>
              <a:t> falciparum</a:t>
            </a:r>
            <a:r>
              <a:rPr lang="en-US" sz="2400" dirty="0"/>
              <a:t> using SLiM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Explicit infection-to-infection transmission pedigrees (ground truth known)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Whole-genome data generated from tree sequences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Genomic inference methods evaluated against true transmission histories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lang="en-GB" sz="2400" dirty="0" smtClean="0"/>
              <a:t>Track pedigree</a:t>
            </a:r>
          </a:p>
          <a:p>
            <a:pPr marL="0" indent="0">
              <a:buNone/>
            </a:pPr>
            <a:r>
              <a:rPr sz="2400" dirty="0" smtClean="0"/>
              <a:t>Recombination </a:t>
            </a:r>
            <a:r>
              <a:rPr sz="2400" dirty="0"/>
              <a:t>rate (r): controls genetic reshuffling per </a:t>
            </a:r>
            <a:r>
              <a:rPr sz="2400" dirty="0" smtClean="0"/>
              <a:t>generation</a:t>
            </a:r>
            <a:endParaRPr sz="2400" dirty="0"/>
          </a:p>
          <a:p>
            <a:pPr marL="0" indent="0">
              <a:buNone/>
            </a:pPr>
            <a:r>
              <a:rPr sz="2400" dirty="0"/>
              <a:t>Tree sequences were recorded with pedigree and mutation information and exported as VCF for downstream analysis</a:t>
            </a:r>
            <a:r>
              <a:rPr sz="2400" dirty="0" smtClean="0"/>
              <a:t>.</a:t>
            </a:r>
            <a:endParaRPr lang="en-GB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pPr/>
              <a:t>4</a:t>
            </a:fld>
            <a:endParaRPr lang="en-US" sz="203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pPr/>
              <a:t>5</a:t>
            </a:fld>
            <a:endParaRPr lang="en-US" sz="2038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6" y="303154"/>
            <a:ext cx="10494414" cy="590310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93776" y="6537960"/>
            <a:ext cx="5221224" cy="380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Figure 1</a:t>
            </a:r>
            <a:r>
              <a:rPr lang="en-GB" dirty="0" smtClean="0"/>
              <a:t>: Overview of Pf simulation framework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498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30" y="295554"/>
            <a:ext cx="11178540" cy="869569"/>
          </a:xfrm>
        </p:spPr>
        <p:txBody>
          <a:bodyPr/>
          <a:lstStyle/>
          <a:p>
            <a:r>
              <a:rPr dirty="0"/>
              <a:t>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030" y="1368108"/>
            <a:ext cx="11178540" cy="547232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400" dirty="0" smtClean="0"/>
              <a:t>E</a:t>
            </a:r>
            <a:r>
              <a:rPr sz="2400" dirty="0" err="1" smtClean="0"/>
              <a:t>xtract</a:t>
            </a:r>
            <a:r>
              <a:rPr sz="2400" dirty="0" smtClean="0"/>
              <a:t> </a:t>
            </a:r>
            <a:r>
              <a:rPr sz="2400" dirty="0"/>
              <a:t>true IBD segments from tree sequences using </a:t>
            </a:r>
            <a:r>
              <a:rPr sz="2400" dirty="0" err="1"/>
              <a:t>tskitIBD</a:t>
            </a:r>
            <a:r>
              <a:rPr sz="2400" dirty="0" smtClean="0"/>
              <a:t>.</a:t>
            </a:r>
            <a:endParaRPr lang="en-GB" sz="2400" dirty="0" smtClean="0"/>
          </a:p>
          <a:p>
            <a:pPr>
              <a:buFont typeface="Wingdings" panose="05000000000000000000" pitchFamily="2" charset="2"/>
              <a:buChar char="q"/>
            </a:pPr>
            <a:endParaRPr sz="2400" dirty="0"/>
          </a:p>
          <a:p>
            <a:pPr>
              <a:buFont typeface="Wingdings" panose="05000000000000000000" pitchFamily="2" charset="2"/>
              <a:buChar char="q"/>
            </a:pPr>
            <a:r>
              <a:rPr sz="2400" dirty="0"/>
              <a:t>Each pair </a:t>
            </a:r>
            <a:r>
              <a:rPr lang="en-GB" sz="2400" dirty="0" smtClean="0"/>
              <a:t>of individuals</a:t>
            </a:r>
            <a:r>
              <a:rPr sz="2400" dirty="0" smtClean="0"/>
              <a:t> </a:t>
            </a:r>
            <a:r>
              <a:rPr sz="2400" dirty="0"/>
              <a:t>sharing </a:t>
            </a:r>
            <a:r>
              <a:rPr sz="2400" dirty="0" smtClean="0"/>
              <a:t>IBD </a:t>
            </a:r>
            <a:r>
              <a:rPr sz="2400" dirty="0"/>
              <a:t>segment with TMRCA ≤ </a:t>
            </a:r>
            <a:r>
              <a:rPr lang="en-GB" sz="2400" dirty="0" smtClean="0"/>
              <a:t>G</a:t>
            </a:r>
            <a:r>
              <a:rPr sz="2400" dirty="0" smtClean="0"/>
              <a:t> </a:t>
            </a:r>
            <a:r>
              <a:rPr sz="2400" dirty="0"/>
              <a:t>generations defines a true transmission proxy.</a:t>
            </a:r>
          </a:p>
          <a:p>
            <a:endParaRPr sz="2400" dirty="0"/>
          </a:p>
          <a:p>
            <a:pPr>
              <a:buFont typeface="Wingdings" panose="05000000000000000000" pitchFamily="2" charset="2"/>
              <a:buChar char="q"/>
            </a:pPr>
            <a:r>
              <a:rPr sz="2400" dirty="0"/>
              <a:t>Predicted metrics were derived from the </a:t>
            </a:r>
            <a:r>
              <a:rPr lang="en-GB" sz="2400" dirty="0" smtClean="0"/>
              <a:t>generated </a:t>
            </a:r>
            <a:r>
              <a:rPr sz="2400" dirty="0" smtClean="0"/>
              <a:t>VCF</a:t>
            </a:r>
            <a:r>
              <a:rPr sz="2400" dirty="0"/>
              <a:t>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4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</a:rPr>
              <a:t>IBS </a:t>
            </a: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estimates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IBD estimates (hmmIBD, isoRelate, </a:t>
            </a:r>
            <a:r>
              <a:rPr lang="en-GB" sz="2400" b="1" dirty="0" smtClean="0">
                <a:solidFill>
                  <a:schemeClr val="accent6">
                    <a:lumMod val="75000"/>
                  </a:schemeClr>
                </a:solidFill>
              </a:rPr>
              <a:t>…)</a:t>
            </a:r>
            <a:endParaRPr lang="en-GB" sz="2400" dirty="0">
              <a:solidFill>
                <a:schemeClr val="accent6">
                  <a:lumMod val="75000"/>
                </a:schemeClr>
              </a:solidFill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</a:rPr>
              <a:t>Phylogenetic cophenetic distance</a:t>
            </a:r>
          </a:p>
          <a:p>
            <a:endParaRPr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2400" dirty="0"/>
              <a:t>C</a:t>
            </a:r>
            <a:r>
              <a:rPr sz="2400" dirty="0" err="1" smtClean="0"/>
              <a:t>omputed</a:t>
            </a:r>
            <a:r>
              <a:rPr sz="2400" dirty="0" smtClean="0"/>
              <a:t> </a:t>
            </a:r>
            <a:r>
              <a:rPr sz="2400" dirty="0"/>
              <a:t>Precision-Recall curves comparing predicted vs. true relatedness to assess recoverability.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pPr/>
              <a:t>6</a:t>
            </a:fld>
            <a:endParaRPr lang="en-US" sz="203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00" b="1" smtClean="0"/>
              <a:t>7</a:t>
            </a:fld>
            <a:endParaRPr lang="en-US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249877" y="121175"/>
            <a:ext cx="38882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 </a:t>
            </a:r>
            <a:r>
              <a:rPr lang="en-GB" sz="4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endParaRPr lang="en-GB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705" y="957574"/>
            <a:ext cx="1078579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Single, well-mixed parasite population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Biologically realistic mutation and recombination rates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400" dirty="0" smtClean="0"/>
              <a:t>Dense </a:t>
            </a:r>
            <a:r>
              <a:rPr lang="en-US" sz="2400" dirty="0"/>
              <a:t>sampling of infections from a single outbreak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Represents an </a:t>
            </a:r>
            <a:r>
              <a:rPr lang="en-US" sz="2400" i="1" dirty="0"/>
              <a:t>optimistic upper bound</a:t>
            </a:r>
            <a:r>
              <a:rPr lang="en-US" sz="2400" dirty="0"/>
              <a:t> for genomic transmission inference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000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 smtClean="0"/>
              <a:t>Fixed all biological and </a:t>
            </a:r>
            <a:r>
              <a:rPr lang="en-GB" sz="2400" dirty="0" err="1" smtClean="0"/>
              <a:t>epi</a:t>
            </a:r>
            <a:r>
              <a:rPr lang="en-GB" sz="2400" dirty="0" smtClean="0"/>
              <a:t> parameters</a:t>
            </a:r>
            <a:endParaRPr lang="en-GB" sz="2400" dirty="0"/>
          </a:p>
          <a:p>
            <a:pPr marL="1293327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 smtClean="0"/>
              <a:t>Mutation rate: 1.0e-08</a:t>
            </a:r>
          </a:p>
          <a:p>
            <a:pPr marL="1293327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 smtClean="0"/>
              <a:t>Recombination rate: 6.666667e-07</a:t>
            </a:r>
          </a:p>
          <a:p>
            <a:pPr marL="1293327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 smtClean="0"/>
              <a:t>Sample size: 1000</a:t>
            </a:r>
          </a:p>
          <a:p>
            <a:pPr marL="1293327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 smtClean="0"/>
              <a:t>Population size: 10.000</a:t>
            </a:r>
          </a:p>
          <a:p>
            <a:pPr marL="1293327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 smtClean="0"/>
              <a:t>Effective population size: 10.000</a:t>
            </a:r>
          </a:p>
        </p:txBody>
      </p:sp>
    </p:spTree>
    <p:extLst>
      <p:ext uri="{BB962C8B-B14F-4D97-AF65-F5344CB8AC3E}">
        <p14:creationId xmlns:p14="http://schemas.microsoft.com/office/powerpoint/2010/main" val="410072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1600" b="1" smtClean="0"/>
              <a:t>8</a:t>
            </a:fld>
            <a:endParaRPr lang="en-US" sz="1600" b="1" dirty="0"/>
          </a:p>
        </p:txBody>
      </p:sp>
      <p:sp>
        <p:nvSpPr>
          <p:cNvPr id="3" name="Rectangle 2"/>
          <p:cNvSpPr/>
          <p:nvPr/>
        </p:nvSpPr>
        <p:spPr>
          <a:xfrm>
            <a:off x="411756" y="1190737"/>
            <a:ext cx="1138781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In </a:t>
            </a:r>
            <a:r>
              <a:rPr lang="en-US" sz="2000" dirty="0"/>
              <a:t>a transmission network, the number of </a:t>
            </a:r>
            <a:r>
              <a:rPr lang="en-US" sz="2000" b="1" dirty="0">
                <a:solidFill>
                  <a:schemeClr val="accent1"/>
                </a:solidFill>
              </a:rPr>
              <a:t>true transmission pairs</a:t>
            </a:r>
            <a:r>
              <a:rPr lang="en-US" sz="2000" dirty="0"/>
              <a:t> (or recent co-transmission links) is tiny compared to the number of all possible pairs.</a:t>
            </a:r>
            <a:br>
              <a:rPr lang="en-US" sz="2000" dirty="0"/>
            </a:br>
            <a:endParaRPr lang="en-US" sz="2000" dirty="0" smtClean="0"/>
          </a:p>
          <a:p>
            <a:r>
              <a:rPr lang="en-US" sz="2000" dirty="0" smtClean="0"/>
              <a:t>For </a:t>
            </a:r>
            <a:r>
              <a:rPr lang="en-US" sz="2000" i="1" dirty="0"/>
              <a:t>N</a:t>
            </a:r>
            <a:r>
              <a:rPr lang="en-US" sz="2000" dirty="0"/>
              <a:t> samples, there are </a:t>
            </a:r>
            <a:r>
              <a:rPr lang="en-US" sz="2000" b="1" i="1" dirty="0"/>
              <a:t>N(N−1)/2</a:t>
            </a:r>
            <a:r>
              <a:rPr lang="en-US" sz="2000" b="1" dirty="0"/>
              <a:t> </a:t>
            </a:r>
            <a:r>
              <a:rPr lang="en-US" sz="2000" dirty="0"/>
              <a:t>possible pairs — and </a:t>
            </a:r>
            <a:r>
              <a:rPr lang="en-US" sz="2000" b="1" dirty="0"/>
              <a:t>maybe &lt;1</a:t>
            </a:r>
            <a:r>
              <a:rPr lang="en-US" sz="2000" b="1" dirty="0" smtClean="0"/>
              <a:t>%</a:t>
            </a:r>
            <a:r>
              <a:rPr lang="en-US" sz="2000" dirty="0" smtClean="0"/>
              <a:t> </a:t>
            </a:r>
            <a:r>
              <a:rPr lang="en-US" sz="2000" dirty="0"/>
              <a:t>correspond to true transmission or close kinship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ROC curves</a:t>
            </a:r>
            <a:r>
              <a:rPr lang="en-US" sz="2000" dirty="0"/>
              <a:t> (which plot True Positive Rate vs False Positive Rate) can look deceptively good even when a classifier is mostly wrong, because the False Positive Rate barely changes in imbalanced settings</a:t>
            </a:r>
            <a:r>
              <a:rPr lang="en-US" sz="20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PR curves</a:t>
            </a:r>
            <a:r>
              <a:rPr lang="en-US" sz="2000" dirty="0"/>
              <a:t> (Precision vs Recall) focus on the positive class (true transmission pairs). They’re sensitive to how many </a:t>
            </a:r>
            <a:r>
              <a:rPr lang="en-US" sz="2000" i="1" dirty="0"/>
              <a:t>predicted</a:t>
            </a:r>
            <a:r>
              <a:rPr lang="en-US" sz="2000" dirty="0"/>
              <a:t> links are truly correct, which is what you care about.</a:t>
            </a:r>
          </a:p>
          <a:p>
            <a:endParaRPr lang="en-US" sz="2000" dirty="0" smtClean="0"/>
          </a:p>
          <a:p>
            <a:r>
              <a:rPr lang="en-US" sz="2000" dirty="0" smtClean="0"/>
              <a:t>Hence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→ </a:t>
            </a:r>
            <a:r>
              <a:rPr lang="en-US" sz="2000" b="1" dirty="0"/>
              <a:t>Use PR-AUC (area under the precision–recall curve)</a:t>
            </a:r>
            <a:r>
              <a:rPr lang="en-US" sz="2000" dirty="0"/>
              <a:t> for comparing methods (IBD vs IBS vs phylogenetic</a:t>
            </a:r>
            <a:r>
              <a:rPr lang="en-US" sz="2000" dirty="0" smtClean="0"/>
              <a:t>).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PR-AUC directly reflects “usefulness for inference”</a:t>
            </a:r>
          </a:p>
          <a:p>
            <a:r>
              <a:rPr lang="en-US" sz="2000" dirty="0"/>
              <a:t>A high PR-AUC means: when the method thinks two samples are closely related (precision), they usually are — and it recovers many of the true links (recall</a:t>
            </a:r>
            <a:r>
              <a:rPr lang="en-US" sz="2000" dirty="0" smtClean="0"/>
              <a:t>).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411756" y="413415"/>
            <a:ext cx="102218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The problem is highly </a:t>
            </a:r>
            <a:r>
              <a:rPr lang="en-US" sz="2800" b="1" i="1" dirty="0" smtClean="0"/>
              <a:t>imbalanced data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4695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0" y="541829"/>
            <a:ext cx="5835183" cy="6679152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6332279" y="541829"/>
            <a:ext cx="5833699" cy="6455666"/>
            <a:chOff x="6215735" y="210312"/>
            <a:chExt cx="5139744" cy="651116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5735" y="3765784"/>
              <a:ext cx="5139744" cy="295569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052" y="210312"/>
              <a:ext cx="5055110" cy="33700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293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388" y="769609"/>
            <a:ext cx="5579747" cy="46497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9609"/>
            <a:ext cx="6210300" cy="455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6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5" y="169954"/>
            <a:ext cx="5140869" cy="42840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692" y="169954"/>
            <a:ext cx="5140870" cy="428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6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1" t="4311" r="17660" b="-1"/>
          <a:stretch/>
        </p:blipFill>
        <p:spPr>
          <a:xfrm>
            <a:off x="6870981" y="740664"/>
            <a:ext cx="4323663" cy="483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9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65286" y="1091288"/>
            <a:ext cx="5876861" cy="1691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38" dirty="0"/>
              <a:t>Essentially random, IBS has almost no predictive power</a:t>
            </a:r>
            <a:endParaRPr lang="en-GB" sz="2038" dirty="0"/>
          </a:p>
          <a:p>
            <a:endParaRPr lang="en-US" sz="2038" dirty="0"/>
          </a:p>
          <a:p>
            <a:r>
              <a:rPr lang="en-US" sz="2038" dirty="0"/>
              <a:t>IBS cannot distinguish between recently transmitted pairs and unrelated pairs.</a:t>
            </a:r>
            <a:endParaRPr lang="en-GB" sz="2038" dirty="0"/>
          </a:p>
        </p:txBody>
      </p:sp>
      <p:sp>
        <p:nvSpPr>
          <p:cNvPr id="12" name="Rectangle 11"/>
          <p:cNvSpPr/>
          <p:nvPr/>
        </p:nvSpPr>
        <p:spPr>
          <a:xfrm>
            <a:off x="6314481" y="1091288"/>
            <a:ext cx="5960878" cy="1372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38" b="1" dirty="0"/>
              <a:t>AUC = 0.588</a:t>
            </a:r>
            <a:r>
              <a:rPr lang="en-US" sz="2038" dirty="0"/>
              <a:t> indicates moderate but suboptimal performance for detecting transmission pairs. </a:t>
            </a:r>
          </a:p>
          <a:p>
            <a:endParaRPr lang="en-US" sz="2038" dirty="0"/>
          </a:p>
          <a:p>
            <a:r>
              <a:rPr lang="en-US" sz="2038" dirty="0"/>
              <a:t>Not reliable enough for high-confidence predictions</a:t>
            </a:r>
            <a:endParaRPr lang="en-GB" sz="2038" dirty="0"/>
          </a:p>
        </p:txBody>
      </p:sp>
    </p:spTree>
    <p:extLst>
      <p:ext uri="{BB962C8B-B14F-4D97-AF65-F5344CB8AC3E}">
        <p14:creationId xmlns:p14="http://schemas.microsoft.com/office/powerpoint/2010/main" val="76833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620463" y="404934"/>
            <a:ext cx="3577133" cy="79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83" b="1" dirty="0"/>
              <a:t>SCENARIO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580939"/>
            <a:ext cx="1110462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Single population, identical demography and sampling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Recombination rate varied across four orders of magnitude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Range spans near-clonal to highly recombining parasite populations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Multiple replicates per recombination </a:t>
            </a:r>
            <a:r>
              <a:rPr lang="en-US" sz="2400" dirty="0" smtClean="0"/>
              <a:t>level</a:t>
            </a:r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b="1" dirty="0"/>
              <a:t>Purpose: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Isolate the effect of recombination on genomic signal and identify thresholds where transmission inference breaks down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240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040" y="356616"/>
            <a:ext cx="10717530" cy="629490"/>
          </a:xfrm>
        </p:spPr>
        <p:txBody>
          <a:bodyPr>
            <a:normAutofit fontScale="90000"/>
          </a:bodyPr>
          <a:lstStyle/>
          <a:p>
            <a:r>
              <a:rPr dirty="0"/>
              <a:t>Why Vary Recombination Rate?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030" y="1621485"/>
            <a:ext cx="10223754" cy="32339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sz="2400" dirty="0"/>
              <a:t>Recombination determines how quickly genetic linkage decays between loci.</a:t>
            </a:r>
          </a:p>
          <a:p>
            <a:endParaRPr sz="2400" dirty="0"/>
          </a:p>
          <a:p>
            <a:pPr marL="750471" lvl="1" indent="-342900">
              <a:buFont typeface="Arial" panose="020B0604020202020204" pitchFamily="34" charset="0"/>
              <a:buChar char="•"/>
            </a:pPr>
            <a:r>
              <a:rPr sz="2400" dirty="0" smtClean="0"/>
              <a:t>Low </a:t>
            </a:r>
            <a:r>
              <a:rPr sz="2400" dirty="0"/>
              <a:t>r: longer shared IBD tracts, easier detection of close transmission links.</a:t>
            </a:r>
          </a:p>
          <a:p>
            <a:pPr marL="750471" lvl="1" indent="-342900">
              <a:buFont typeface="Arial" panose="020B0604020202020204" pitchFamily="34" charset="0"/>
              <a:buChar char="•"/>
            </a:pPr>
            <a:r>
              <a:rPr sz="2400" dirty="0" smtClean="0"/>
              <a:t>High </a:t>
            </a:r>
            <a:r>
              <a:rPr sz="2400" dirty="0"/>
              <a:t>r: shorter tracts, increased difficulty in inferring direct ancestry.</a:t>
            </a:r>
          </a:p>
          <a:p>
            <a:endParaRPr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 smtClean="0"/>
              <a:t>A</a:t>
            </a:r>
            <a:r>
              <a:rPr sz="2400" dirty="0" smtClean="0"/>
              <a:t>ssess </a:t>
            </a:r>
            <a:r>
              <a:rPr sz="2400" dirty="0"/>
              <a:t>the robustness of each inference method across different recombination </a:t>
            </a:r>
            <a:r>
              <a:rPr sz="2400" dirty="0" smtClean="0"/>
              <a:t>r</a:t>
            </a:r>
            <a:r>
              <a:rPr lang="en-GB" sz="2400" dirty="0" smtClean="0"/>
              <a:t>ates</a:t>
            </a:r>
            <a:r>
              <a:rPr lang="en-GB" sz="2400" dirty="0"/>
              <a:t> </a:t>
            </a:r>
            <a:r>
              <a:rPr lang="en-US" sz="2400" dirty="0" smtClean="0"/>
              <a:t>(10</a:t>
            </a:r>
            <a:r>
              <a:rPr lang="en-US" sz="2400" dirty="0"/>
              <a:t>⁻</a:t>
            </a:r>
            <a:r>
              <a:rPr lang="en-US" sz="2400" b="1" baseline="30000" dirty="0" smtClean="0"/>
              <a:t>9 </a:t>
            </a:r>
            <a:r>
              <a:rPr lang="en-US" sz="2400" dirty="0" smtClean="0"/>
              <a:t>– 10</a:t>
            </a:r>
            <a:r>
              <a:rPr lang="en-US" sz="2400" dirty="0"/>
              <a:t>⁻⁶</a:t>
            </a:r>
            <a:r>
              <a:rPr lang="en-US" sz="2400" dirty="0" smtClean="0"/>
              <a:t>)</a:t>
            </a:r>
            <a:r>
              <a:rPr sz="2400" dirty="0" smtClean="0"/>
              <a:t>.</a:t>
            </a:r>
            <a:endParaRPr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pPr/>
              <a:t>15</a:t>
            </a:fld>
            <a:endParaRPr lang="en-US" sz="203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634155"/>
              </p:ext>
            </p:extLst>
          </p:nvPr>
        </p:nvGraphicFramePr>
        <p:xfrm>
          <a:off x="2050026" y="253619"/>
          <a:ext cx="8300474" cy="6225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Acrobat Document" r:id="rId3" imgW="10972736" imgH="8229600" progId="Acrobat.Document.DC">
                  <p:embed/>
                </p:oleObj>
              </mc:Choice>
              <mc:Fallback>
                <p:oleObj name="Acrobat Document" r:id="rId3" imgW="10972736" imgH="822960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0026" y="253619"/>
                        <a:ext cx="8300474" cy="6225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50026" y="6728076"/>
            <a:ext cx="5221224" cy="380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Figure 2</a:t>
            </a:r>
            <a:r>
              <a:rPr lang="en-GB" dirty="0" smtClean="0"/>
              <a:t>: Overview of Pf simulation framework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507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132417"/>
              </p:ext>
            </p:extLst>
          </p:nvPr>
        </p:nvGraphicFramePr>
        <p:xfrm>
          <a:off x="2059654" y="376716"/>
          <a:ext cx="7734136" cy="6628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Acrobat Document" r:id="rId3" imgW="9600881" imgH="8229600" progId="Acrobat.Document.DC">
                  <p:link updateAutomatic="1"/>
                </p:oleObj>
              </mc:Choice>
              <mc:Fallback>
                <p:oleObj name="Acrobat Document" r:id="rId3" imgW="9600881" imgH="8229600" progId="Acrobat.Document.DC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9654" y="376716"/>
                        <a:ext cx="7734136" cy="6628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914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964" y="659980"/>
            <a:ext cx="8733552" cy="5822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4790" y="1877621"/>
            <a:ext cx="2916616" cy="3626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PR-AUC quantifies how well predicted relatedness identifies true transmission pairs</a:t>
            </a:r>
            <a:r>
              <a:rPr lang="en-US" dirty="0"/>
              <a:t>.</a:t>
            </a:r>
          </a:p>
          <a:p>
            <a:endParaRPr lang="en-GB" dirty="0" smtClean="0"/>
          </a:p>
          <a:p>
            <a:r>
              <a:rPr lang="en-GB" dirty="0" smtClean="0"/>
              <a:t>Results </a:t>
            </a:r>
            <a:r>
              <a:rPr lang="en-GB" dirty="0"/>
              <a:t>show …….. with increasing recombination rate:</a:t>
            </a:r>
          </a:p>
          <a:p>
            <a:pPr marL="407571" lvl="1" indent="0">
              <a:buNone/>
            </a:pPr>
            <a:r>
              <a:rPr lang="en-GB" dirty="0"/>
              <a:t>- r = 10⁻</a:t>
            </a:r>
            <a:r>
              <a:rPr lang="en-GB" b="1" baseline="30000" dirty="0"/>
              <a:t>9</a:t>
            </a:r>
            <a:r>
              <a:rPr lang="en-GB" dirty="0"/>
              <a:t> → PR-AUC ≈</a:t>
            </a:r>
          </a:p>
          <a:p>
            <a:pPr marL="407571" lvl="1" indent="0">
              <a:buNone/>
            </a:pPr>
            <a:r>
              <a:rPr lang="en-GB" dirty="0"/>
              <a:t>- r = 10⁻⁸ → PR-AUC ≈ </a:t>
            </a:r>
          </a:p>
          <a:p>
            <a:pPr marL="407571" lvl="1" indent="0">
              <a:buNone/>
            </a:pPr>
            <a:r>
              <a:rPr lang="en-GB" dirty="0"/>
              <a:t>- r = 10⁻⁷ → PR-AUC ≈ </a:t>
            </a:r>
          </a:p>
          <a:p>
            <a:pPr marL="407571" lvl="1" indent="0">
              <a:buNone/>
            </a:pPr>
            <a:r>
              <a:rPr lang="en-GB" dirty="0"/>
              <a:t>- r = 10⁻⁶ → PR-AUC ≈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907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85" y="237744"/>
            <a:ext cx="5127264" cy="3418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85" y="3893664"/>
            <a:ext cx="5113112" cy="34087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757" y="3893664"/>
            <a:ext cx="5028060" cy="33520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757" y="237744"/>
            <a:ext cx="5028060" cy="335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8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39372"/>
              </p:ext>
            </p:extLst>
          </p:nvPr>
        </p:nvGraphicFramePr>
        <p:xfrm>
          <a:off x="3111910" y="178901"/>
          <a:ext cx="7685138" cy="6404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Acrobat Document" r:id="rId3" imgW="8229447" imgH="6857790" progId="Acrobat.Document.DC">
                  <p:embed/>
                </p:oleObj>
              </mc:Choice>
              <mc:Fallback>
                <p:oleObj name="Acrobat Document" r:id="rId3" imgW="8229447" imgH="685779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1910" y="178901"/>
                        <a:ext cx="7685138" cy="6404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9935" y="6725265"/>
            <a:ext cx="4041059" cy="380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Figure 4: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48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0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620463" y="276918"/>
            <a:ext cx="3577133" cy="79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83" b="1" dirty="0"/>
              <a:t>SCENARIO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195" y="1197627"/>
            <a:ext cx="1112028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Multi-Population Structure and Migration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Two to four subpopulations representing geographically distinct foci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Migration rates ranging from low to high connectivity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Transmission chains allowed to cross population boundaries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Sampling performed within and across </a:t>
            </a:r>
            <a:r>
              <a:rPr lang="en-US" sz="2000" dirty="0" smtClean="0"/>
              <a:t>subpopulations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Recombination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Migration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Sampling proportion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Transmission bottleneck size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Dozens of biologically plausible parameter combinations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Replicated simulations for each parameter set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Purpose</a:t>
            </a:r>
            <a:r>
              <a:rPr lang="en-US" sz="2000" b="1" dirty="0"/>
              <a:t>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Assess </a:t>
            </a:r>
            <a:r>
              <a:rPr lang="en-US" sz="2000" dirty="0"/>
              <a:t>how spatial structure and parasite movement distort transmission inference and inflate false </a:t>
            </a:r>
            <a:r>
              <a:rPr lang="en-US" sz="2000" dirty="0" smtClean="0"/>
              <a:t>positives</a:t>
            </a:r>
            <a:endParaRPr lang="en-US" sz="2000" dirty="0"/>
          </a:p>
          <a:p>
            <a:endParaRPr lang="en-US" sz="2000" dirty="0" smtClean="0"/>
          </a:p>
          <a:p>
            <a:r>
              <a:rPr lang="en-US" sz="2000" dirty="0"/>
              <a:t>Map the full inference landscape and identify regions where genomic transmission reconstruction is feasible, unstable, or impossible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406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030" y="1384732"/>
            <a:ext cx="11178540" cy="4610825"/>
          </a:xfrm>
        </p:spPr>
        <p:txBody>
          <a:bodyPr>
            <a:normAutofit/>
          </a:bodyPr>
          <a:lstStyle/>
          <a:p>
            <a:r>
              <a:rPr lang="en-GB" dirty="0"/>
              <a:t>I</a:t>
            </a:r>
            <a:r>
              <a:rPr dirty="0" smtClean="0"/>
              <a:t>nference </a:t>
            </a:r>
            <a:r>
              <a:rPr dirty="0"/>
              <a:t>methods relying on genetic relatedness are sensitive to recombination dynamics</a:t>
            </a:r>
            <a:r>
              <a:rPr dirty="0" smtClean="0"/>
              <a:t>.</a:t>
            </a:r>
            <a:endParaRPr lang="en-GB" dirty="0" smtClean="0"/>
          </a:p>
          <a:p>
            <a:endParaRPr dirty="0"/>
          </a:p>
          <a:p>
            <a:r>
              <a:rPr dirty="0"/>
              <a:t>Hence, realistic modeling of recombination and infection complexity is essential for evaluating genomic transmission studies.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38"/>
              <a:pPr/>
              <a:t>23</a:t>
            </a:fld>
            <a:endParaRPr lang="en-US" sz="203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94209"/>
              </p:ext>
            </p:extLst>
          </p:nvPr>
        </p:nvGraphicFramePr>
        <p:xfrm>
          <a:off x="846406" y="1458941"/>
          <a:ext cx="10727790" cy="318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558"/>
                <a:gridCol w="2145558"/>
                <a:gridCol w="2145558"/>
                <a:gridCol w="2145558"/>
                <a:gridCol w="2145558"/>
              </a:tblGrid>
              <a:tr h="1181637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Chromosome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1e-9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1e-8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1e-7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1e-6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</a:tr>
              <a:tr h="667881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Pf3D7_01_v3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696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592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1003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1269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</a:tr>
              <a:tr h="667881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Pf3D7_02_v3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1523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1326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1676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1803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</a:tr>
              <a:tr h="667881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Pf3D7_03_v3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1674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1346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1809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2070</a:t>
                      </a:r>
                      <a:endParaRPr lang="en-GB" sz="2000" dirty="0"/>
                    </a:p>
                  </a:txBody>
                  <a:tcPr marL="93155" marR="93155" marT="46577" marB="46577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6405" y="5440548"/>
            <a:ext cx="7849686" cy="477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347" indent="-349347">
              <a:buFont typeface="Arial" panose="020B0604020202020204" pitchFamily="34" charset="0"/>
              <a:buChar char="•"/>
            </a:pPr>
            <a:r>
              <a:rPr lang="en-GB" sz="2445" dirty="0"/>
              <a:t>Recombination rate increases the number of variants</a:t>
            </a:r>
          </a:p>
        </p:txBody>
      </p:sp>
    </p:spTree>
    <p:extLst>
      <p:ext uri="{BB962C8B-B14F-4D97-AF65-F5344CB8AC3E}">
        <p14:creationId xmlns:p14="http://schemas.microsoft.com/office/powerpoint/2010/main" val="691399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https://www.facebook.com/share/r/17fHU8Ujja/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98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19435</TotalTime>
  <Words>645</Words>
  <Application>Microsoft Office PowerPoint</Application>
  <PresentationFormat>Custom</PresentationFormat>
  <Paragraphs>156</Paragraphs>
  <Slides>24</Slides>
  <Notes>2</Notes>
  <HiddenSlides>0</HiddenSlides>
  <MMClips>0</MMClips>
  <ScaleCrop>false</ScaleCrop>
  <HeadingPairs>
    <vt:vector size="10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Algerian</vt:lpstr>
      <vt:lpstr>Arial</vt:lpstr>
      <vt:lpstr>Calibri</vt:lpstr>
      <vt:lpstr>Wingdings</vt:lpstr>
      <vt:lpstr>Office Theme</vt:lpstr>
      <vt:lpstr>C:\Users\mdiop\OneDrive - London School of Hygiene and Tropical Medicine\PhD\Analysis\objective1\benchmarking_methods\simulation\simulations\figure2_baseline_ibd.pdf</vt:lpstr>
      <vt:lpstr>Adobe Acrobat Document</vt:lpstr>
      <vt:lpstr>Benchmarking Transmission Inference Methods Using Simulated Genomic Data</vt:lpstr>
      <vt:lpstr>Rationale for Simulation</vt:lpstr>
      <vt:lpstr>Simulation Design</vt:lpstr>
      <vt:lpstr>PowerPoint Presentation</vt:lpstr>
      <vt:lpstr>Evaluation Framework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Vary Recombination Rate?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Benchmarking Transmission Inference Methods Using Simulated Genomic Data</dc:title>
  <dc:subject/>
  <dc:creator>Diop Mouhamadou Fadel</dc:creator>
  <cp:keywords/>
  <dc:description>generated using python-pptx</dc:description>
  <cp:lastModifiedBy>Diop Mouhamadou Fadel</cp:lastModifiedBy>
  <cp:revision>52</cp:revision>
  <dcterms:created xsi:type="dcterms:W3CDTF">2013-01-27T09:14:16Z</dcterms:created>
  <dcterms:modified xsi:type="dcterms:W3CDTF">2025-12-23T03:48:42Z</dcterms:modified>
  <cp:category/>
</cp:coreProperties>
</file>